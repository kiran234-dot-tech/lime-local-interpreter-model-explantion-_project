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png" ContentType="image/png"/>
  <Default Extension="fntdata" ContentType="application/x-fontdata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1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3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slide" Target="/ppt/slides/slide4.xml" Id="rId5" /><Relationship Type="http://schemas.openxmlformats.org/officeDocument/2006/relationships/slide" Target="/ppt/slides/slide5.xml" Id="rId6" /><Relationship Type="http://schemas.openxmlformats.org/officeDocument/2006/relationships/slide" Target="/ppt/slides/slide6.xml" Id="rId7" /><Relationship Type="http://schemas.openxmlformats.org/officeDocument/2006/relationships/slide" Target="/ppt/slides/slide7.xml" Id="rId8" /><Relationship Type="http://schemas.openxmlformats.org/officeDocument/2006/relationships/slide" Target="/ppt/slides/slide8.xml" Id="rId9" /><Relationship Type="http://schemas.openxmlformats.org/officeDocument/2006/relationships/slide" Target="/ppt/slides/slide9.xml" Id="rId10" /><Relationship Type="http://schemas.openxmlformats.org/officeDocument/2006/relationships/slide" Target="/ppt/slides/slide10.xml" Id="rId11" /><Relationship Type="http://schemas.openxmlformats.org/officeDocument/2006/relationships/notesMaster" Target="/ppt/notesMasters/notesMaster1.xml" Id="rId12" /><Relationship Type="http://schemas.openxmlformats.org/officeDocument/2006/relationships/presProps" Target="/ppt/presProps.xml" Id="rId13" /><Relationship Type="http://schemas.openxmlformats.org/officeDocument/2006/relationships/viewProps" Target="/ppt/viewProps.xml" Id="rId14" /><Relationship Type="http://schemas.openxmlformats.org/officeDocument/2006/relationships/theme" Target="/ppt/theme/theme1.xml" Id="rId15" /><Relationship Type="http://schemas.openxmlformats.org/officeDocument/2006/relationships/tableStyles" Target="/ppt/tableStyles.xml" Id="rId16" /><Relationship Type="http://schemas.openxmlformats.org/officeDocument/2006/relationships/font" Target="/ppt/fonts/font1.fntdata" Id="rId17" /><Relationship Type="http://schemas.openxmlformats.org/officeDocument/2006/relationships/font" Target="/ppt/fonts/font2.fntdata" Id="rId18" /><Relationship Type="http://schemas.openxmlformats.org/officeDocument/2006/relationships/font" Target="/ppt/fonts/font3.fntdata" Id="rId19" /><Relationship Type="http://schemas.openxmlformats.org/officeDocument/2006/relationships/font" Target="/ppt/fonts/font4.fntdata" Id="rId20" /><Relationship Type="http://schemas.openxmlformats.org/officeDocument/2006/relationships/font" Target="/ppt/fonts/font5.fntdata" Id="rId21" /><Relationship Type="http://schemas.openxmlformats.org/officeDocument/2006/relationships/font" Target="/ppt/fonts/font6.fntdata" Id="rId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.xml" Id="rI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2.xml" Id="rI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3.xml" Id="rI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4.xml" Id="rI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5.xml" Id="rI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6.xml" Id="rI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7.xml" Id="rI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8.xml" Id="rI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9.xml" Id="rI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0.xml" Id="rId2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image" Target="/ppt/media/image-1002-1.png" Id="rId1" /><Relationship Type="http://schemas.openxmlformats.org/officeDocument/2006/relationships/slideMaster" Target="/ppt/slideMasters/slideMaster1.xml" Id="rId3" /><Relationship Type="http://schemas.openxmlformats.org/officeDocument/2006/relationships/hyperlink" Target="https://gamma.app/?utm_source=made-with-gamma" TargetMode="External" Id="rI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image" Target="/ppt/media/image-1003-1.png" Id="rId1" /><Relationship Type="http://schemas.openxmlformats.org/officeDocument/2006/relationships/slideMaster" Target="/ppt/slideMasters/slideMaster1.xml" Id="rId3" /><Relationship Type="http://schemas.openxmlformats.org/officeDocument/2006/relationships/hyperlink" Target="https://gamma.app/?utm_source=made-with-gamma" TargetMode="External" Id="rI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image" Target="/ppt/media/image-1004-1.png" Id="rId1" /><Relationship Type="http://schemas.openxmlformats.org/officeDocument/2006/relationships/slideMaster" Target="/ppt/slideMasters/slideMaster1.xml" Id="rId3" /><Relationship Type="http://schemas.openxmlformats.org/officeDocument/2006/relationships/hyperlink" Target="https://gamma.app/?utm_source=made-with-gamma" TargetMode="External" Id="rI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image" Target="/ppt/media/image-1005-1.png" Id="rId1" /><Relationship Type="http://schemas.openxmlformats.org/officeDocument/2006/relationships/slideMaster" Target="/ppt/slideMasters/slideMaster1.xml" Id="rId3" /><Relationship Type="http://schemas.openxmlformats.org/officeDocument/2006/relationships/hyperlink" Target="https://gamma.app/?utm_source=made-with-gamma" TargetMode="External" Id="rI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image" Target="/ppt/media/image-1006-1.png" Id="rId1" /><Relationship Type="http://schemas.openxmlformats.org/officeDocument/2006/relationships/slideMaster" Target="/ppt/slideMasters/slideMaster1.xml" Id="rId3" /><Relationship Type="http://schemas.openxmlformats.org/officeDocument/2006/relationships/hyperlink" Target="https://gamma.app/?utm_source=made-with-gamma" TargetMode="External" Id="rId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image" Target="/ppt/media/image-1007-1.png" Id="rId1" /><Relationship Type="http://schemas.openxmlformats.org/officeDocument/2006/relationships/slideMaster" Target="/ppt/slideMasters/slideMaster1.xml" Id="rId3" /><Relationship Type="http://schemas.openxmlformats.org/officeDocument/2006/relationships/hyperlink" Target="https://gamma.app/?utm_source=made-with-gamma" TargetMode="External" Id="rId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image" Target="/ppt/media/image-1008-1.png" Id="rId1" /><Relationship Type="http://schemas.openxmlformats.org/officeDocument/2006/relationships/slideMaster" Target="/ppt/slideMasters/slideMaster1.xml" Id="rId3" /><Relationship Type="http://schemas.openxmlformats.org/officeDocument/2006/relationships/hyperlink" Target="https://gamma.app/?utm_source=made-with-gamma" TargetMode="External" Id="rId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image" Target="/ppt/media/image-1009-1.png" Id="rId1" /><Relationship Type="http://schemas.openxmlformats.org/officeDocument/2006/relationships/slideMaster" Target="/ppt/slideMasters/slideMaster1.xml" Id="rId3" /><Relationship Type="http://schemas.openxmlformats.org/officeDocument/2006/relationships/hyperlink" Target="https://gamma.app/?utm_source=made-with-gamma" TargetMode="External" Id="rId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image" Target="/ppt/media/image-1010-1.png" Id="rId1" /><Relationship Type="http://schemas.openxmlformats.org/officeDocument/2006/relationships/slideMaster" Target="/ppt/slideMasters/slideMaster1.xml" Id="rId3" /><Relationship Type="http://schemas.openxmlformats.org/officeDocument/2006/relationships/hyperlink" Target="https://gamma.app/?utm_source=made-with-gamma" TargetMode="External" Id="rId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image" Target="/ppt/media/image-1011-1.png" Id="rId1" /><Relationship Type="http://schemas.openxmlformats.org/officeDocument/2006/relationships/slideMaster" Target="/ppt/slideMasters/slideMaster1.xml" Id="rId3" /><Relationship Type="http://schemas.openxmlformats.org/officeDocument/2006/relationships/hyperlink" Target="https://gamma.app/?utm_source=made-with-gamma" TargetMode="External" Id="rId2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-1-1.png" Id="rId1" /><Relationship Type="http://schemas.openxmlformats.org/officeDocument/2006/relationships/slideLayout" Target="/ppt/slideLayouts/slideLayout2.xml" Id="rId2" /><Relationship Type="http://schemas.openxmlformats.org/officeDocument/2006/relationships/notesSlide" Target="/ppt/notesSlides/notesSlide1.xml" Id="rI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-2-1.png" Id="rId1" /><Relationship Type="http://schemas.openxmlformats.org/officeDocument/2006/relationships/slideLayout" Target="/ppt/slideLayouts/slideLayout3.xml" Id="rId2" /><Relationship Type="http://schemas.openxmlformats.org/officeDocument/2006/relationships/notesSlide" Target="/ppt/notesSlides/notesSlide2.xml" Id="rI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-3-1.png" Id="rId1" /><Relationship Type="http://schemas.openxmlformats.org/officeDocument/2006/relationships/image" Target="/ppt/media/image-3-2.png" Id="rId2" /><Relationship Type="http://schemas.openxmlformats.org/officeDocument/2006/relationships/image" Target="/ppt/media/image-3-3.png" Id="rId3" /><Relationship Type="http://schemas.openxmlformats.org/officeDocument/2006/relationships/image" Target="/ppt/media/image-3-4.png" Id="rId4" /><Relationship Type="http://schemas.openxmlformats.org/officeDocument/2006/relationships/slideLayout" Target="/ppt/slideLayouts/slideLayout4.xml" Id="rId5" /><Relationship Type="http://schemas.openxmlformats.org/officeDocument/2006/relationships/notesSlide" Target="/ppt/notesSlides/notesSlide3.xml" Id="rI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Relationship Type="http://schemas.openxmlformats.org/officeDocument/2006/relationships/notesSlide" Target="/ppt/notesSlides/notesSlide4.xml" Id="rI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-5-1.png" Id="rId1" /><Relationship Type="http://schemas.openxmlformats.org/officeDocument/2006/relationships/image" Target="/ppt/media/image-5-2.png" Id="rId2" /><Relationship Type="http://schemas.openxmlformats.org/officeDocument/2006/relationships/image" Target="/ppt/media/image-5-3.png" Id="rId3" /><Relationship Type="http://schemas.openxmlformats.org/officeDocument/2006/relationships/image" Target="/ppt/media/image-5-4.png" Id="rId4" /><Relationship Type="http://schemas.openxmlformats.org/officeDocument/2006/relationships/image" Target="/ppt/media/image-5-5.png" Id="rId5" /><Relationship Type="http://schemas.openxmlformats.org/officeDocument/2006/relationships/slideLayout" Target="/ppt/slideLayouts/slideLayout6.xml" Id="rId6" /><Relationship Type="http://schemas.openxmlformats.org/officeDocument/2006/relationships/notesSlide" Target="/ppt/notesSlides/notesSlide5.xml" Id="rI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-6-1.png" Id="rId1" /><Relationship Type="http://schemas.openxmlformats.org/officeDocument/2006/relationships/image" Target="/ppt/media/image-6-2.png" Id="rId2" /><Relationship Type="http://schemas.openxmlformats.org/officeDocument/2006/relationships/slideLayout" Target="/ppt/slideLayouts/slideLayout7.xml" Id="rId3" /><Relationship Type="http://schemas.openxmlformats.org/officeDocument/2006/relationships/notesSlide" Target="/ppt/notesSlides/notesSlide6.xml" Id="rI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-7-1.png" Id="rId1" /><Relationship Type="http://schemas.openxmlformats.org/officeDocument/2006/relationships/slideLayout" Target="/ppt/slideLayouts/slideLayout8.xml" Id="rId2" /><Relationship Type="http://schemas.openxmlformats.org/officeDocument/2006/relationships/notesSlide" Target="/ppt/notesSlides/notesSlide7.xml" Id="rI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Id1" /><Relationship Type="http://schemas.openxmlformats.org/officeDocument/2006/relationships/notesSlide" Target="/ppt/notesSlides/notesSlide8.xml" Id="rI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-9-1.png" Id="rId1" /><Relationship Type="http://schemas.openxmlformats.org/officeDocument/2006/relationships/slideLayout" Target="/ppt/slideLayouts/slideLayout10.xml" Id="rId2" /><Relationship Type="http://schemas.openxmlformats.org/officeDocument/2006/relationships/notesSlide" Target="/ppt/notesSlides/notesSlide9.xml" Id="rI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-10-1.png" Id="rId1" /><Relationship Type="http://schemas.openxmlformats.org/officeDocument/2006/relationships/image" Target="/ppt/media/image-10-2.png" Id="rId2" /><Relationship Type="http://schemas.openxmlformats.org/officeDocument/2006/relationships/image" Target="/ppt/media/image-10-3.png" Id="rId3" /><Relationship Type="http://schemas.openxmlformats.org/officeDocument/2006/relationships/image" Target="/ppt/media/image-10-4.png" Id="rId4" /><Relationship Type="http://schemas.openxmlformats.org/officeDocument/2006/relationships/slideLayout" Target="/ppt/slideLayouts/slideLayout11.xml" Id="rId5" /><Relationship Type="http://schemas.openxmlformats.org/officeDocument/2006/relationships/notesSlide" Target="/ppt/notesSlides/notesSlide10.xml" Id="rId6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3039785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</a:t>
            </a:r>
            <a:pPr algn="l" indent="0" marL="0">
              <a:lnSpc>
                <a:spcPts val="5500"/>
              </a:lnSpc>
              <a:buNone/>
            </a:pPr>
            <a:r>
              <a:rPr lang="en-US" sz="4400" u="sng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IME: Making AI Decisions Explainable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806791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u="sng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Local Interpretable Model-Agnostic Explanations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29421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Challenge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596521"/>
            <a:ext cx="2099905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Black Box Problem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4539734"/>
            <a:ext cx="20999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models make decisions, but we don't know why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3529132" y="3596521"/>
            <a:ext cx="209990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Trust Gap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529132" y="4187785"/>
            <a:ext cx="2099905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Users need to understand predictions to trust them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220539" y="3596521"/>
            <a:ext cx="209990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LIME Solution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220539" y="4187785"/>
            <a:ext cx="20999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Reveals which features influence each prediction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0872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LIME Works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391489"/>
            <a:ext cx="6477476" cy="9575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039" y="358830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Input Features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7039" y="4083844"/>
            <a:ext cx="599884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 data vector into model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391489"/>
            <a:ext cx="6477476" cy="9575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54516" y="358830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Perturb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54516" y="4083844"/>
            <a:ext cx="599884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Change one feature at a time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4706183"/>
            <a:ext cx="6477476" cy="9575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77039" y="590300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Track Changes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77039" y="6398538"/>
            <a:ext cx="599884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 prediction shifts</a:t>
            </a:r>
            <a:endParaRPr lang="en-US" sz="1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706183"/>
            <a:ext cx="6477476" cy="9575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54516" y="590300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Rank Influence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54516" y="6398538"/>
            <a:ext cx="599884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 features by impact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04656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Objectives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229332"/>
            <a:ext cx="6357818" cy="1357193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4" name="Text 2"/>
          <p:cNvSpPr/>
          <p:nvPr/>
        </p:nvSpPr>
        <p:spPr>
          <a:xfrm>
            <a:off x="1077039" y="346864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Input Feature Vector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7039" y="3964186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Accept prediction data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434858" y="3229332"/>
            <a:ext cx="6357818" cy="1357193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7" name="Text 5"/>
          <p:cNvSpPr/>
          <p:nvPr/>
        </p:nvSpPr>
        <p:spPr>
          <a:xfrm>
            <a:off x="7674173" y="346864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Vary Features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74173" y="3964186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Change one value at a time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37724" y="4825841"/>
            <a:ext cx="6357818" cy="1357193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10" name="Text 8"/>
          <p:cNvSpPr/>
          <p:nvPr/>
        </p:nvSpPr>
        <p:spPr>
          <a:xfrm>
            <a:off x="1077039" y="506515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 Changes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7039" y="5560695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 output shifts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7434858" y="4825841"/>
            <a:ext cx="6357818" cy="1357193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13" name="Text 11"/>
          <p:cNvSpPr/>
          <p:nvPr/>
        </p:nvSpPr>
        <p:spPr>
          <a:xfrm>
            <a:off x="7674173" y="506515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Rank Influence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74173" y="5560695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 by importance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8879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Five Core Modules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971562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01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3347918"/>
            <a:ext cx="415873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7724" y="352853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Input Feature Loader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37724" y="4024074"/>
            <a:ext cx="41587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Accepts and normalizes data vector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35773" y="2971562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02</a:t>
            </a:r>
            <a:endParaRPr lang="en-US" sz="1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773" y="3347918"/>
            <a:ext cx="4158734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773" y="352853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 Simulator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773" y="4024074"/>
            <a:ext cx="41587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Returns weighted sum prediction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9633823" y="2971562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03</a:t>
            </a:r>
            <a:endParaRPr lang="en-US" sz="1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3823" y="3347918"/>
            <a:ext cx="4158853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33823" y="352853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Perturbation Engine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33823" y="4024074"/>
            <a:ext cx="41588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Modifies one feature at a time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37724" y="4825841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04</a:t>
            </a:r>
            <a:endParaRPr lang="en-US" sz="18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5178266"/>
            <a:ext cx="6357818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7724" y="538281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Change Tracker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837724" y="5878354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Logs prediction differences</a:t>
            </a:r>
            <a:endParaRPr lang="en-US" sz="1850" dirty="0"/>
          </a:p>
        </p:txBody>
      </p:sp>
      <p:sp>
        <p:nvSpPr>
          <p:cNvPr id="19" name="Text 13"/>
          <p:cNvSpPr/>
          <p:nvPr/>
        </p:nvSpPr>
        <p:spPr>
          <a:xfrm>
            <a:off x="7434858" y="4825841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05</a:t>
            </a:r>
            <a:endParaRPr lang="en-US" sz="18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858" y="5178266"/>
            <a:ext cx="6357818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34858" y="538281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Ranker Exporter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434858" y="5878354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Outputs influence order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809631"/>
            <a:ext cx="613517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Loan Approval Example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111937"/>
            <a:ext cx="263699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Input Features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324124" y="3703201"/>
            <a:ext cx="263699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Age: 18-60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24124" y="4169926"/>
            <a:ext cx="263699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Salary: ₹10K-₹100K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24124" y="4636651"/>
            <a:ext cx="263699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Credit Score: 300-900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324124" y="5103376"/>
            <a:ext cx="263699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Loan Amount: ₹5K-₹50K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324124" y="5953125"/>
            <a:ext cx="263699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Dependents: 0-5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9552623" y="311193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Normalization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552623" y="3703201"/>
            <a:ext cx="424755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Scale all values between 0 and 1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552623" y="4389120"/>
            <a:ext cx="4247555" cy="697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endParaRPr lang="en-US" sz="2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2623" y="4389120"/>
            <a:ext cx="4247555" cy="6975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065252"/>
            <a:ext cx="687466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 Influence Ranking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2247900"/>
            <a:ext cx="22900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837724" y="3336846"/>
            <a:ext cx="22900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37724" y="3832384"/>
            <a:ext cx="22900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Highest impact on prediction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3426976" y="2247900"/>
            <a:ext cx="22900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3426976" y="3336846"/>
            <a:ext cx="22900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Loan Amount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26976" y="3832384"/>
            <a:ext cx="22900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Strong influence on decision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016228" y="2247900"/>
            <a:ext cx="22900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6200" dirty="0"/>
          </a:p>
        </p:txBody>
      </p:sp>
      <p:sp>
        <p:nvSpPr>
          <p:cNvPr id="11" name="Text 8"/>
          <p:cNvSpPr/>
          <p:nvPr/>
        </p:nvSpPr>
        <p:spPr>
          <a:xfrm>
            <a:off x="6016228" y="3336846"/>
            <a:ext cx="22900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Salary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16228" y="3832384"/>
            <a:ext cx="229004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Moderate effect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3426976" y="5196840"/>
            <a:ext cx="22900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6200" dirty="0"/>
          </a:p>
        </p:txBody>
      </p:sp>
      <p:sp>
        <p:nvSpPr>
          <p:cNvPr id="14" name="Text 11"/>
          <p:cNvSpPr/>
          <p:nvPr/>
        </p:nvSpPr>
        <p:spPr>
          <a:xfrm>
            <a:off x="3426976" y="6285786"/>
            <a:ext cx="22900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Credit Score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426976" y="6781324"/>
            <a:ext cx="229004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Lower relative impact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964418"/>
            <a:ext cx="633281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Real-World Applications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38650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Loan Systems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882039"/>
            <a:ext cx="411884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Explains approval factors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255776" y="438650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Medical Diagnosis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55776" y="4882039"/>
            <a:ext cx="411884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Reveals health parameter impact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673828" y="438650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HR Analytics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73828" y="4882039"/>
            <a:ext cx="411884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Highlights selection criteria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039183"/>
            <a:ext cx="663071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Advantages &amp; Limitations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34148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✓ Advantages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3932753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Easy-to-understand visualization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4782503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 computational cost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37724" y="5249228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Builds user trust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37724" y="5715953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Domain-agnostic approach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871561" y="3341489"/>
            <a:ext cx="2816185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⚠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Limitations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871561" y="3940373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Fixed weighted-sum formula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871561" y="4407098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Cannot capture nonlinear patterns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4871561" y="5256848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Predetermined weights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4871561" y="5723573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Limited scalability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662470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725460"/>
            <a:ext cx="3614618" cy="1801177"/>
          </a:xfrm>
          <a:prstGeom prst="roundRect">
            <a:avLst>
              <a:gd name="adj" fmla="val 8123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44" y="2725460"/>
            <a:ext cx="121920" cy="180117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98959" y="2995255"/>
            <a:ext cx="289691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Transparency Matters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198959" y="3490793"/>
            <a:ext cx="29835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LIME makes AI decisions interpretable and trustworthy</a:t>
            </a:r>
            <a:endParaRPr lang="en-US" sz="1850" dirty="0"/>
          </a:p>
        </p:txBody>
      </p:sp>
      <p:sp>
        <p:nvSpPr>
          <p:cNvPr id="8" name="Shape 4"/>
          <p:cNvSpPr/>
          <p:nvPr/>
        </p:nvSpPr>
        <p:spPr>
          <a:xfrm>
            <a:off x="4691658" y="2725460"/>
            <a:ext cx="3614618" cy="1801177"/>
          </a:xfrm>
          <a:prstGeom prst="roundRect">
            <a:avLst>
              <a:gd name="adj" fmla="val 8123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178" y="2725460"/>
            <a:ext cx="121920" cy="180117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52893" y="299525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 Influence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052893" y="3490793"/>
            <a:ext cx="29835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Perturbation reveals which inputs drive predictions</a:t>
            </a:r>
            <a:endParaRPr lang="en-US" sz="1850" dirty="0"/>
          </a:p>
        </p:txBody>
      </p:sp>
      <p:sp>
        <p:nvSpPr>
          <p:cNvPr id="12" name="Shape 7"/>
          <p:cNvSpPr/>
          <p:nvPr/>
        </p:nvSpPr>
        <p:spPr>
          <a:xfrm>
            <a:off x="837724" y="4765953"/>
            <a:ext cx="3614618" cy="1801177"/>
          </a:xfrm>
          <a:prstGeom prst="roundRect">
            <a:avLst>
              <a:gd name="adj" fmla="val 8123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44" y="4765953"/>
            <a:ext cx="121920" cy="180117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98959" y="503574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Practical Impact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198959" y="5531287"/>
            <a:ext cx="29835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Applicable across finance, healthcare, and HR domains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2025-11-21T18:16:51Z</dcterms:created>
  <dcterms:modified xsi:type="dcterms:W3CDTF">2025-11-21T18:16:51Z</dcterms:modified>
</cp:coreProperties>
</file>